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42"/>
          </a:solidFill>
          <a:ln w="12700">
            <a:solidFill>
              <a:srgbClr val="1C2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2440" y="-960120"/>
            <a:ext cx="5120640" cy="5120640"/>
          </a:xfrm>
          <a:prstGeom prst="arc">
            <a:avLst/>
          </a:prstGeom>
          <a:noFill/>
          <a:ln w="12700">
            <a:solidFill>
              <a:srgbClr val="39B6B7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3246120"/>
            <a:ext cx="3840480" cy="3840480"/>
          </a:xfrm>
          <a:prstGeom prst="arc">
            <a:avLst/>
          </a:prstGeom>
          <a:noFill/>
          <a:ln w="12700">
            <a:solidFill>
              <a:srgbClr val="2F5F9C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8755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TALASH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EECEF"/>
                </a:solidFill>
              </a:rPr>
              <a:t>Talent Acquisition &amp; Learning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BEECEF"/>
                </a:solidFill>
              </a:rPr>
              <a:t>Automation for Smart Hiring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278892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Milestone 2: Core Extraction, Analysis Pipeline &amp; Intermediate Web 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685032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4E4EE"/>
                </a:solidFill>
              </a:rPr>
              <a:t>CS 417 – Large Language Models  |  Spring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EE"/>
                </a:solidFill>
              </a:rPr>
              <a:t>BSDS-2023 · SEECS, NUST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EE"/>
                </a:solidFill>
              </a:rPr>
              <a:t>Mehreen Raheel · Eeshal Tahir · Huma Ejaz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EE"/>
                </a:solidFill>
              </a:rPr>
              <a:t>Instructor: Prof. Dr. Muhammad Moazam Fraz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49640" y="5074920"/>
            <a:ext cx="2331720" cy="475488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MILESTONE 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539728" y="64648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2B42"/>
          </a:solidFill>
          <a:ln w="12700">
            <a:solidFill>
              <a:srgbClr val="1C2B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Milestone 2 Scope: From Parsing to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066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What changed after Milestone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329184"/>
            <a:ext cx="1417320" cy="292608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MILESTONE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344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42"/>
                </a:solidFill>
              </a:rPr>
              <a:t>Folder mode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" y="160020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CV ingestion + batch processing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71800" y="114300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2344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42"/>
                </a:solidFill>
              </a:rPr>
              <a:t>Gemini first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90672" y="160020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LLM-assisted extraction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49240" y="114300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2344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42"/>
                </a:solidFill>
              </a:rPr>
              <a:t>5 modules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68112" y="160020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Analysis modules active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26680" y="114300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2344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42"/>
                </a:solidFill>
              </a:rPr>
              <a:t>7 tabs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45552" y="160020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Interactive web app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224028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514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2"/>
                </a:solidFill>
              </a:rPr>
              <a:t>Milestone 1 foundation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• PDF reading with pdfplumber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447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• Section-aware regex parsing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9227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• Early Streamlit prototype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3982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• JSON output schema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224028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514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2"/>
                </a:solidFill>
              </a:rPr>
              <a:t>Milestone 2 upgrade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8368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• Education, experience, research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3447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• Missing info detection + email drafts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39227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• Candidate summaries with suitability labels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0" y="43982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• Comparison table + radar visualization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539728" y="64648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2B42"/>
          </a:solidFill>
          <a:ln w="12700">
            <a:solidFill>
              <a:srgbClr val="1C2B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Updated System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066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Milestone 2 expands the analysis and presentation layers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329184"/>
            <a:ext cx="1417320" cy="292608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MILESTONE 2</a:t>
            </a:r>
            <a:endParaRPr lang="en-US" sz="1000" dirty="0"/>
          </a:p>
        </p:txBody>
      </p:sp>
      <p:pic>
        <p:nvPicPr>
          <p:cNvPr id="7" name="Image 0" descr="/mnt/data/m2_media/word/media/image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5505"/>
            <a:ext cx="5577840" cy="374403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6520" y="1097280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08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2"/>
                </a:solidFill>
              </a:rPr>
              <a:t>What’s new in the architecture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20840" y="18745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• LLM-first parser with regex fallback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720840" y="235000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• Analysis layer now includes education, experience, research, missing info, and summary modules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720840" y="282549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• Streamlit rebuilt into a multi-tab dashboard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720840" y="330098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• Session-state processing enables candidate comparison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539728" y="64648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2B42"/>
          </a:solidFill>
          <a:ln w="12700">
            <a:solidFill>
              <a:srgbClr val="1C2B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Extraction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066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Batch CV ingestion + structured LLM JSON extraction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329184"/>
            <a:ext cx="1417320" cy="292608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MILESTONE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572768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B6B7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160934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C2B42"/>
                </a:solidFill>
              </a:rPr>
              <a:t>Input CVs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57400" y="1673352"/>
            <a:ext cx="228600" cy="320040"/>
          </a:xfrm>
          <a:prstGeom prst="chevron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14173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1572768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B6B7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62072" y="160934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C2B42"/>
                </a:solidFill>
              </a:rPr>
              <a:t>Extract text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31920" y="1673352"/>
            <a:ext cx="228600" cy="320040"/>
          </a:xfrm>
          <a:prstGeom prst="chevron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4173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E8FBFB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98264" y="1572768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B6B7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36592" y="160934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C2B42"/>
                </a:solidFill>
              </a:rPr>
              <a:t>Gemini JSON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06440" y="1673352"/>
            <a:ext cx="228600" cy="320040"/>
          </a:xfrm>
          <a:prstGeom prst="chevron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4173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572768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B6B7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11112" y="160934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C2B42"/>
                </a:solidFill>
              </a:rPr>
              <a:t>Regex fallback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80960" y="1673352"/>
            <a:ext cx="228600" cy="320040"/>
          </a:xfrm>
          <a:prstGeom prst="chevron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14173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7304" y="1572768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B6B7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85632" y="160934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C2B42"/>
                </a:solidFill>
              </a:rPr>
              <a:t>Analysis dicts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55480" y="1673352"/>
            <a:ext cx="228600" cy="320040"/>
          </a:xfrm>
          <a:prstGeom prst="chevron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21240" y="14173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21824" y="1572768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B6B7"/>
                </a:solidFill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360152" y="160934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C2B42"/>
                </a:solidFill>
              </a:rPr>
              <a:t>Streamlit UI</a:t>
            </a:r>
            <a:endParaRPr lang="en-US" sz="1050" dirty="0"/>
          </a:p>
        </p:txBody>
      </p:sp>
      <p:pic>
        <p:nvPicPr>
          <p:cNvPr id="30" name="Image 0" descr="/mnt/data/m2_media/word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15" y="2788920"/>
            <a:ext cx="1403211" cy="3246120"/>
          </a:xfrm>
          <a:prstGeom prst="rect">
            <a:avLst/>
          </a:prstGeom>
        </p:spPr>
      </p:pic>
      <p:pic>
        <p:nvPicPr>
          <p:cNvPr id="31" name="Image 1" descr="/mnt/data/m2_media/word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191564"/>
            <a:ext cx="4206240" cy="2212231"/>
          </a:xfrm>
          <a:prstGeom prst="rect">
            <a:avLst/>
          </a:prstGeom>
        </p:spPr>
      </p:pic>
      <p:pic>
        <p:nvPicPr>
          <p:cNvPr id="32" name="Image 2" descr="/mnt/data/m2_media/word/media/image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919171"/>
            <a:ext cx="3931920" cy="298561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A"/>
                </a:solidFill>
              </a:rPr>
              <a:t>Extended schema now includes supervision, books, patents, skills and parsed research fields in addition to personal info, education, experience and publications.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11539728" y="64648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2B42"/>
          </a:solidFill>
          <a:ln w="12700">
            <a:solidFill>
              <a:srgbClr val="1C2B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Active Analysis Modules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066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Five analysis modules are now functional in Milestone 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329184"/>
            <a:ext cx="1417320" cy="292608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MILESTONE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507492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44752"/>
            <a:ext cx="1508760" cy="274320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education_analysis.py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6040" y="139903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033"/>
                </a:solidFill>
              </a:rPr>
              <a:t>CGPA normalization, level classification, gap detection, institution quality, academic strength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07492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444752"/>
            <a:ext cx="1508760" cy="274320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experience_analysis.py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38160" y="139903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033"/>
                </a:solidFill>
              </a:rPr>
              <a:t>Timeline normalization, gap/overlap detection, career progression scoring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85800" y="2532888"/>
            <a:ext cx="507492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43200"/>
            <a:ext cx="1508760" cy="274320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research_analysis.py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269748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033"/>
                </a:solidFill>
              </a:rPr>
              <a:t>Publication counts, journal vs conference classification, impact factors, themes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17920" y="2532888"/>
            <a:ext cx="507492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743200"/>
            <a:ext cx="1508760" cy="274320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email_drafter.py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38160" y="269748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033"/>
                </a:solidFill>
              </a:rPr>
              <a:t>Missing/incomplete/unclear detection plus personalized follow-up email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85800" y="3831336"/>
            <a:ext cx="507492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41648"/>
            <a:ext cx="1508760" cy="274320"/>
          </a:xfrm>
          <a:prstGeom prst="rect">
            <a:avLst/>
          </a:prstGeom>
          <a:solidFill>
            <a:srgbClr val="2F5F9C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summary_generator.py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06040" y="3995928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033"/>
                </a:solidFill>
              </a:rPr>
              <a:t>Suitability label and LLM-enhanced narrative candidate summary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822960" y="571500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2"/>
                </a:solidFill>
              </a:rPr>
              <a:t>Shared utility: normalizers.py handles CGPA scale detection, education level classification, specialization extraction and safe numeric parsing.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39728" y="64648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2B42"/>
          </a:solidFill>
          <a:ln w="12700">
            <a:solidFill>
              <a:srgbClr val="1C2B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Educational Profile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066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Normalized scores, degree progression, gaps and institution quality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329184"/>
            <a:ext cx="1417320" cy="292608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MILESTONE 2</a:t>
            </a:r>
            <a:endParaRPr lang="en-US" sz="1000" dirty="0"/>
          </a:p>
        </p:txBody>
      </p:sp>
      <p:pic>
        <p:nvPicPr>
          <p:cNvPr id="7" name="Image 0" descr="/mnt/data/m2_media/word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54500"/>
            <a:ext cx="5532120" cy="2320201"/>
          </a:xfrm>
          <a:prstGeom prst="rect">
            <a:avLst/>
          </a:prstGeom>
        </p:spPr>
      </p:pic>
      <p:pic>
        <p:nvPicPr>
          <p:cNvPr id="8" name="Image 1" descr="/mnt/data/m2_media/word/media/imag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961" y="1143000"/>
            <a:ext cx="3732877" cy="2743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1520" y="434340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05840" y="459028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</a:rPr>
              <a:t>• Converts CGPA/percentage/letter grades into a common 0–100 scale while preserving original values</a:t>
            </a:r>
            <a:endParaRPr lang="en-US" sz="1220" dirty="0"/>
          </a:p>
        </p:txBody>
      </p:sp>
      <p:sp>
        <p:nvSpPr>
          <p:cNvPr id="11" name="Text 7"/>
          <p:cNvSpPr/>
          <p:nvPr/>
        </p:nvSpPr>
        <p:spPr>
          <a:xfrm>
            <a:off x="1005840" y="491947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</a:rPr>
              <a:t>• Classifies education levels from SSC → HSSC → UG → PG → PhD and flags unusual gaps</a:t>
            </a:r>
            <a:endParaRPr lang="en-US" sz="1220" dirty="0"/>
          </a:p>
        </p:txBody>
      </p:sp>
      <p:sp>
        <p:nvSpPr>
          <p:cNvPr id="12" name="Text 8"/>
          <p:cNvSpPr/>
          <p:nvPr/>
        </p:nvSpPr>
        <p:spPr>
          <a:xfrm>
            <a:off x="1005840" y="5248656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</a:rPr>
              <a:t>• Uses a curated institution tier database for quick quality assessment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11539728" y="64648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2B42"/>
          </a:solidFill>
          <a:ln w="12700">
            <a:solidFill>
              <a:srgbClr val="1C2B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Professional Experience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066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Employment continuity, overlaps, gaps and seniority progression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329184"/>
            <a:ext cx="1417320" cy="292608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MILESTONE 2</a:t>
            </a:r>
            <a:endParaRPr lang="en-US" sz="1000" dirty="0"/>
          </a:p>
        </p:txBody>
      </p:sp>
      <p:pic>
        <p:nvPicPr>
          <p:cNvPr id="7" name="Image 0" descr="/mnt/data/m2_media/word/media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58" y="1143000"/>
            <a:ext cx="5521044" cy="3794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92240" y="1143000"/>
            <a:ext cx="498348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2"/>
                </a:solidFill>
              </a:rPr>
              <a:t>Timeline checks implemented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66560" y="18745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• Normalizes dates from strings like “Feb-2014 – Sep-2024” and “Present”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766560" y="226771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• Flags employment gaps over 90 days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66560" y="26609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• Classifies gaps as minor, moderate, or significant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66560" y="30540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• Detects overlapping roles and separates short transitions from concurrent roles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66560" y="34472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• Scores career progression using title seniority lookup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539728" y="64648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2B42"/>
          </a:solidFill>
          <a:ln w="12700">
            <a:solidFill>
              <a:srgbClr val="1C2B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Profile Processing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066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Partial research analysis delivered for Milestone 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329184"/>
            <a:ext cx="1417320" cy="292608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MILESTONE 2</a:t>
            </a:r>
            <a:endParaRPr lang="en-US" sz="1000" dirty="0"/>
          </a:p>
        </p:txBody>
      </p:sp>
      <p:pic>
        <p:nvPicPr>
          <p:cNvPr id="7" name="Image 0" descr="/mnt/data/m2_media/word/media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74727"/>
            <a:ext cx="5486400" cy="2588307"/>
          </a:xfrm>
          <a:prstGeom prst="rect">
            <a:avLst/>
          </a:prstGeom>
        </p:spPr>
      </p:pic>
      <p:pic>
        <p:nvPicPr>
          <p:cNvPr id="8" name="Image 1" descr="/mnt/data/m2_media/word/media/image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262958"/>
            <a:ext cx="5212080" cy="241184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14400" y="4251960"/>
            <a:ext cx="10378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88720" y="44805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</a:rPr>
              <a:t>• Counts total publications and breaks them down into journal, conference and other categories</a:t>
            </a:r>
            <a:endParaRPr lang="en-US" sz="1220" dirty="0"/>
          </a:p>
        </p:txBody>
      </p:sp>
      <p:sp>
        <p:nvSpPr>
          <p:cNvPr id="11" name="Text 7"/>
          <p:cNvSpPr/>
          <p:nvPr/>
        </p:nvSpPr>
        <p:spPr>
          <a:xfrm>
            <a:off x="1188720" y="480974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</a:rPr>
              <a:t>• Extracts impact factors, top venues, year-wise publication timeline and dominant themes</a:t>
            </a:r>
            <a:endParaRPr lang="en-US" sz="1220" dirty="0"/>
          </a:p>
        </p:txBody>
      </p:sp>
      <p:sp>
        <p:nvSpPr>
          <p:cNvPr id="12" name="Text 8"/>
          <p:cNvSpPr/>
          <p:nvPr/>
        </p:nvSpPr>
        <p:spPr>
          <a:xfrm>
            <a:off x="1188720" y="513892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</a:rPr>
              <a:t>• Advanced WoS/Scopus verification, quartile ranking and co-author network analysis are planned for Milestone 3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11539728" y="64648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2B42"/>
          </a:solidFill>
          <a:ln w="12700">
            <a:solidFill>
              <a:srgbClr val="1C2B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Missing Information + Personalized Email Drafting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066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Three-tier issue classification with candidate-specific follow-up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329184"/>
            <a:ext cx="1417320" cy="292608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MILESTONE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1430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350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2"/>
                </a:solidFill>
              </a:rPr>
              <a:t>Missing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65960" y="135331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77A"/>
                </a:solidFill>
              </a:rPr>
              <a:t>Field absent entirely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33502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2"/>
                </a:solidFill>
              </a:rPr>
              <a:t>Incomplete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2200" y="13533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77A"/>
                </a:solidFill>
              </a:rPr>
              <a:t>Sub-fields missing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83880" y="11430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3350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2"/>
                </a:solidFill>
              </a:rPr>
              <a:t>Unclear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64040" y="13533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77A"/>
                </a:solidFill>
              </a:rPr>
              <a:t>Value ambiguous</a:t>
            </a:r>
            <a:endParaRPr lang="en-US" sz="1000" dirty="0"/>
          </a:p>
        </p:txBody>
      </p:sp>
      <p:pic>
        <p:nvPicPr>
          <p:cNvPr id="16" name="Image 0" descr="/mnt/data/m2_media/word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" y="2331720"/>
            <a:ext cx="5843016" cy="32461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635240" y="2487168"/>
            <a:ext cx="36118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09560" y="2743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2"/>
                </a:solidFill>
              </a:rPr>
              <a:t>Sample generated email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909560" y="3154680"/>
            <a:ext cx="3063240" cy="1783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Subject: Application Follow-Up - Additional Information Required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Dear Muhammad Salman,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Thank you for submitting your application. After reviewing your CV, we found information that is missing, incomplete, or requires clarification.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Please share your phone number, email address, date of birth, and missing degree specializations.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539728" y="64648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2B42"/>
          </a:solidFill>
          <a:ln w="12700">
            <a:solidFill>
              <a:srgbClr val="1C2B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Summary Generation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066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Suitability label + narrative summary for recruiter review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329184"/>
            <a:ext cx="1417320" cy="292608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MILESTONE 2</a:t>
            </a:r>
            <a:endParaRPr lang="en-US" sz="1000" dirty="0"/>
          </a:p>
        </p:txBody>
      </p:sp>
      <p:pic>
        <p:nvPicPr>
          <p:cNvPr id="7" name="Image 0" descr="/mnt/data/m2_media/word/media/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40303"/>
            <a:ext cx="2011680" cy="2651514"/>
          </a:xfrm>
          <a:prstGeom prst="rect">
            <a:avLst/>
          </a:prstGeom>
        </p:spPr>
      </p:pic>
      <p:pic>
        <p:nvPicPr>
          <p:cNvPr id="8" name="Image 1" descr="/mnt/data/m2_media/word/media/image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347565"/>
            <a:ext cx="4023360" cy="1602551"/>
          </a:xfrm>
          <a:prstGeom prst="rect">
            <a:avLst/>
          </a:prstGeom>
        </p:spPr>
      </p:pic>
      <p:pic>
        <p:nvPicPr>
          <p:cNvPr id="9" name="Image 2" descr="/mnt/data/m2_media/word/media/image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13151"/>
            <a:ext cx="4114800" cy="1271379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971800" y="3703320"/>
            <a:ext cx="8412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246120" y="3950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2"/>
                </a:solidFill>
              </a:rPr>
              <a:t>Weighted label inputs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246120" y="437083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</a:rPr>
              <a:t>• Academic strength from education analysis</a:t>
            </a:r>
            <a:endParaRPr lang="en-US" sz="1220" dirty="0"/>
          </a:p>
        </p:txBody>
      </p:sp>
      <p:sp>
        <p:nvSpPr>
          <p:cNvPr id="13" name="Text 8"/>
          <p:cNvSpPr/>
          <p:nvPr/>
        </p:nvSpPr>
        <p:spPr>
          <a:xfrm>
            <a:off x="3246120" y="4700016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</a:rPr>
              <a:t>• Total years of experience from timeline analysis</a:t>
            </a:r>
            <a:endParaRPr lang="en-US" sz="1220" dirty="0"/>
          </a:p>
        </p:txBody>
      </p:sp>
      <p:sp>
        <p:nvSpPr>
          <p:cNvPr id="14" name="Text 9"/>
          <p:cNvSpPr/>
          <p:nvPr/>
        </p:nvSpPr>
        <p:spPr>
          <a:xfrm>
            <a:off x="3246120" y="50292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</a:rPr>
              <a:t>• Research output from publication analysis</a:t>
            </a:r>
            <a:endParaRPr lang="en-US" sz="1220" dirty="0"/>
          </a:p>
        </p:txBody>
      </p:sp>
      <p:sp>
        <p:nvSpPr>
          <p:cNvPr id="15" name="Text 10"/>
          <p:cNvSpPr/>
          <p:nvPr/>
        </p:nvSpPr>
        <p:spPr>
          <a:xfrm>
            <a:off x="11539728" y="64648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2B42"/>
          </a:solidFill>
          <a:ln w="12700">
            <a:solidFill>
              <a:srgbClr val="1C2B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Intermediate Streamlit Web App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066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7-tab dashboard with upload mode, folder mode, selector and comparison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329184"/>
            <a:ext cx="1417320" cy="292608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MILESTONE 2</a:t>
            </a:r>
            <a:endParaRPr lang="en-US" sz="1000" dirty="0"/>
          </a:p>
        </p:txBody>
      </p:sp>
      <p:pic>
        <p:nvPicPr>
          <p:cNvPr id="7" name="Image 0" descr="/mnt/data/m2_media/word/media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46818"/>
            <a:ext cx="5120640" cy="2444124"/>
          </a:xfrm>
          <a:prstGeom prst="rect">
            <a:avLst/>
          </a:prstGeom>
        </p:spPr>
      </p:pic>
      <p:pic>
        <p:nvPicPr>
          <p:cNvPr id="8" name="Image 1" descr="/mnt/data/m2_media/word/media/image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051" y="1051560"/>
            <a:ext cx="4978659" cy="2834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960" y="4343400"/>
            <a:ext cx="10332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97280" y="455371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02033"/>
                </a:solidFill>
              </a:rPr>
              <a:t>• Tabs: Summary, Education, Experience, Research, Missing Info &amp; Email, Raw Data, Compare All</a:t>
            </a:r>
            <a:endParaRPr lang="en-US" sz="1210" dirty="0"/>
          </a:p>
        </p:txBody>
      </p:sp>
      <p:sp>
        <p:nvSpPr>
          <p:cNvPr id="11" name="Text 7"/>
          <p:cNvSpPr/>
          <p:nvPr/>
        </p:nvSpPr>
        <p:spPr>
          <a:xfrm>
            <a:off x="1097280" y="488289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02033"/>
                </a:solidFill>
              </a:rPr>
              <a:t>• Dashboard metrics: total CVs processed, total publications, strong candidates, average experience</a:t>
            </a:r>
            <a:endParaRPr lang="en-US" sz="1210" dirty="0"/>
          </a:p>
        </p:txBody>
      </p:sp>
      <p:sp>
        <p:nvSpPr>
          <p:cNvPr id="12" name="Text 8"/>
          <p:cNvSpPr/>
          <p:nvPr/>
        </p:nvSpPr>
        <p:spPr>
          <a:xfrm>
            <a:off x="1097280" y="521208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02033"/>
                </a:solidFill>
              </a:rPr>
              <a:t>• Candidate selector supports multi-CV analysis without re-running the pipeline</a:t>
            </a:r>
            <a:endParaRPr lang="en-US" sz="1210" dirty="0"/>
          </a:p>
        </p:txBody>
      </p:sp>
      <p:sp>
        <p:nvSpPr>
          <p:cNvPr id="13" name="Text 9"/>
          <p:cNvSpPr/>
          <p:nvPr/>
        </p:nvSpPr>
        <p:spPr>
          <a:xfrm>
            <a:off x="11539728" y="64648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2B42"/>
          </a:solidFill>
          <a:ln w="12700">
            <a:solidFill>
              <a:srgbClr val="1C2B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Technologies &amp; Libraries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066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Core tools used in the Milestone 2 implementation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329184"/>
            <a:ext cx="1417320" cy="292608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MILESTONE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3672840" cy="497840"/>
          </a:xfrm>
          <a:prstGeom prst="rect">
            <a:avLst/>
          </a:prstGeom>
          <a:solidFill>
            <a:srgbClr val="1C2B42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Technology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4267200" y="1051560"/>
            <a:ext cx="3672840" cy="497840"/>
          </a:xfrm>
          <a:prstGeom prst="rect">
            <a:avLst/>
          </a:prstGeom>
          <a:solidFill>
            <a:srgbClr val="1C2B42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Version / Model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7940040" y="1051560"/>
            <a:ext cx="3672840" cy="497840"/>
          </a:xfrm>
          <a:prstGeom prst="rect">
            <a:avLst/>
          </a:prstGeom>
          <a:solidFill>
            <a:srgbClr val="1C2B42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Purpose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594360" y="1549400"/>
            <a:ext cx="3672840" cy="49784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Python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4267200" y="1549400"/>
            <a:ext cx="3672840" cy="49784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3.14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7940040" y="1549400"/>
            <a:ext cx="3672840" cy="49784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Primary programming language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594360" y="2047240"/>
            <a:ext cx="3672840" cy="49784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Streamlit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4267200" y="2047240"/>
            <a:ext cx="3672840" cy="49784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&gt;= 1.33.0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7940040" y="2047240"/>
            <a:ext cx="3672840" cy="49784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7-tab interactive web application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594360" y="2545080"/>
            <a:ext cx="3672840" cy="49784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Google Gemini API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4267200" y="2545080"/>
            <a:ext cx="3672840" cy="49784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gemini-2.0-flash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7940040" y="2545080"/>
            <a:ext cx="3672840" cy="49784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LLM parsing and summary generation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594360" y="3042920"/>
            <a:ext cx="3672840" cy="49784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pdfplumber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4267200" y="3042920"/>
            <a:ext cx="3672840" cy="49784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&gt;= 0.11.0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7940040" y="3042920"/>
            <a:ext cx="3672840" cy="49784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Layout-aware PDF text extraction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594360" y="3540760"/>
            <a:ext cx="3672840" cy="49784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Plotly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4267200" y="3540760"/>
            <a:ext cx="3672840" cy="49784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Latest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7940040" y="3540760"/>
            <a:ext cx="3672840" cy="49784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Interactive bar, pie and radar charts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594360" y="4038600"/>
            <a:ext cx="3672840" cy="49784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pandas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4267200" y="4038600"/>
            <a:ext cx="3672840" cy="49784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&gt;= 2.2.0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7940040" y="4038600"/>
            <a:ext cx="3672840" cy="49784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Tabular outputs and candidate comparison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594360" y="4536440"/>
            <a:ext cx="3672840" cy="49784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python-dateutil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4267200" y="4536440"/>
            <a:ext cx="3672840" cy="49784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&gt;= 2.9.0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7940040" y="4536440"/>
            <a:ext cx="3672840" cy="49784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Employment timeline date parsing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594360" y="5034280"/>
            <a:ext cx="3672840" cy="49784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Git / GitHub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4267200" y="5034280"/>
            <a:ext cx="3672840" cy="49784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-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7940040" y="5034280"/>
            <a:ext cx="3672840" cy="49784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033"/>
                </a:solidFill>
              </a:rPr>
              <a:t>Version control and collaboration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777240" y="57607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42"/>
                </a:solidFill>
              </a:rPr>
              <a:t>The stack supports both reliable rule-based fallback and LLM-enhanced extraction, keeping the pipeline usable even when the Gemini API is unavailable.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539728" y="64648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2B42"/>
          </a:solidFill>
          <a:ln w="12700">
            <a:solidFill>
              <a:srgbClr val="1C2B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Milestone 2 Completion Status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066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Delivered items mapped to the rubric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329184"/>
            <a:ext cx="1417320" cy="292608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MILESTONE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5417820" cy="441960"/>
          </a:xfrm>
          <a:prstGeom prst="rect">
            <a:avLst/>
          </a:prstGeom>
          <a:solidFill>
            <a:srgbClr val="1C2B42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Deliverable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6103620" y="1143000"/>
            <a:ext cx="5417820" cy="441960"/>
          </a:xfrm>
          <a:prstGeom prst="rect">
            <a:avLst/>
          </a:prstGeom>
          <a:solidFill>
            <a:srgbClr val="1C2B42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Status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685800" y="1584960"/>
            <a:ext cx="5417820" cy="44196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02033"/>
                </a:solidFill>
              </a:rPr>
              <a:t>LLM + regex structured extraction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6103620" y="1584960"/>
            <a:ext cx="5417820" cy="44196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02033"/>
                </a:solidFill>
              </a:rPr>
              <a:t>Complete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685800" y="2026920"/>
            <a:ext cx="5417820" cy="44196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02033"/>
                </a:solidFill>
              </a:rPr>
              <a:t>Folder-based batch CV ingestion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103620" y="2026920"/>
            <a:ext cx="5417820" cy="44196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02033"/>
                </a:solidFill>
              </a:rPr>
              <a:t>Complete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685800" y="2468880"/>
            <a:ext cx="5417820" cy="44196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02033"/>
                </a:solidFill>
              </a:rPr>
              <a:t>Education analysis: normalization, gaps, institution quality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6103620" y="2468880"/>
            <a:ext cx="5417820" cy="44196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02033"/>
                </a:solidFill>
              </a:rPr>
              <a:t>Complete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685800" y="2910840"/>
            <a:ext cx="5417820" cy="44196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02033"/>
                </a:solidFill>
              </a:rPr>
              <a:t>Experience analysis: timeline, gaps, overlaps, progression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6103620" y="2910840"/>
            <a:ext cx="5417820" cy="44196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02033"/>
                </a:solidFill>
              </a:rPr>
              <a:t>Complete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685800" y="3352800"/>
            <a:ext cx="5417820" cy="44196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02033"/>
                </a:solidFill>
              </a:rPr>
              <a:t>Missing info detection + personalized emails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6103620" y="3352800"/>
            <a:ext cx="5417820" cy="44196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02033"/>
                </a:solidFill>
              </a:rPr>
              <a:t>Complete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685800" y="3794760"/>
            <a:ext cx="5417820" cy="44196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02033"/>
                </a:solidFill>
              </a:rPr>
              <a:t>Summary generation + suitability labels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6103620" y="3794760"/>
            <a:ext cx="5417820" cy="44196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02033"/>
                </a:solidFill>
              </a:rPr>
              <a:t>Complete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685800" y="4236720"/>
            <a:ext cx="5417820" cy="44196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02033"/>
                </a:solidFill>
              </a:rPr>
              <a:t>Partial research profile processing + charts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6103620" y="4236720"/>
            <a:ext cx="5417820" cy="441960"/>
          </a:xfrm>
          <a:prstGeom prst="rect">
            <a:avLst/>
          </a:prstGeom>
          <a:solidFill>
            <a:srgbClr val="FFFFFF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02033"/>
                </a:solidFill>
              </a:rPr>
              <a:t>Complete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685800" y="4678680"/>
            <a:ext cx="5417820" cy="44196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02033"/>
                </a:solidFill>
              </a:rPr>
              <a:t>Advanced research/ranking modules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6103620" y="4678680"/>
            <a:ext cx="5417820" cy="441960"/>
          </a:xfrm>
          <a:prstGeom prst="rect">
            <a:avLst/>
          </a:prstGeom>
          <a:solidFill>
            <a:srgbClr val="F7FBFD"/>
          </a:solidFill>
          <a:ln>
            <a:solidFill>
              <a:srgbClr val="E4EC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02033"/>
                </a:solidFill>
              </a:rPr>
              <a:t>Milestone 3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777240" y="5532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42"/>
                </a:solidFill>
              </a:rPr>
              <a:t>Result: a functioning end-to-end analysis pipeline, not just a parser prototype.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539728" y="64648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9B6B7"/>
          </a:solidFill>
          <a:ln w="12700">
            <a:solidFill>
              <a:srgbClr val="39B6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2B42"/>
          </a:solidFill>
          <a:ln w="12700">
            <a:solidFill>
              <a:srgbClr val="1C2B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&amp; Milestone 3 Roadmap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066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What remains before the final system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329184"/>
            <a:ext cx="1417320" cy="292608"/>
          </a:xfrm>
          <a:prstGeom prst="rect">
            <a:avLst/>
          </a:prstGeom>
          <a:solidFill>
            <a:srgbClr val="39B6B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MILESTONE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143000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42"/>
                </a:solidFill>
              </a:rPr>
              <a:t>Current limitations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</a:rPr>
              <a:t>• Static institution quality database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60120" y="2377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</a:rPr>
              <a:t>• Portal PDFs omit email/phone fields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960120" y="28346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</a:rPr>
              <a:t>• Publication extraction still affected by table layout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960120" y="32918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</a:rPr>
              <a:t>• Research analysis is still partial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355080" y="1143000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42"/>
                </a:solidFill>
              </a:rPr>
              <a:t>Planned for Milestone 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19202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</a:rPr>
              <a:t>• WoS/Scopus indexing and Q1–Q4 verification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629400" y="2377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</a:rPr>
              <a:t>• CORE conference ranking and authorship roles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6629400" y="28346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</a:rPr>
              <a:t>• Supervision, books and patents analysis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6629400" y="32918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</a:rPr>
              <a:t>• Weighted candidate ranking + skill alignment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1188720" y="580644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A"/>
                </a:solidFill>
              </a:rPr>
              <a:t>TALASH — Smart HR Recruitment System | github.com/mehreennwhyn0t/Talash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39728" y="64648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SEECS, NUST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TALASH - Milestone 2 Presentation</dc:title>
  <dc:subject>TALASH Milestone 2</dc:subject>
  <dc:creator>OpenAI</dc:creator>
  <cp:lastModifiedBy>OpenAI</cp:lastModifiedBy>
  <cp:revision>1</cp:revision>
  <dcterms:created xsi:type="dcterms:W3CDTF">2026-04-27T12:49:23Z</dcterms:created>
  <dcterms:modified xsi:type="dcterms:W3CDTF">2026-04-27T12:49:23Z</dcterms:modified>
</cp:coreProperties>
</file>